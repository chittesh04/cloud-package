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8e2270f144a10" /><Relationship Type="http://schemas.openxmlformats.org/officeDocument/2006/relationships/extended-properties" Target="/docProps/app.xml" Id="R9fcfd64b99b145b3" /><Relationship Type="http://schemas.openxmlformats.org/officeDocument/2006/relationships/officeDocument" Target="/ppt/presentation.xml" Id="R28b36c4d22ac47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d3af87884f41e4"/>
  </p:sldMasterIdLst>
  <p:notesMasterIdLst>
    <p:notesMasterId xmlns:r="http://schemas.openxmlformats.org/officeDocument/2006/relationships" r:id="R927e531c944848fb"/>
  </p:notesMasterIdLst>
  <p:sldIdLst>
    <p:sldId xmlns:r="http://schemas.openxmlformats.org/officeDocument/2006/relationships" id="256" r:id="R54600f25e8894029"/>
    <p:sldId xmlns:r="http://schemas.openxmlformats.org/officeDocument/2006/relationships" id="257" r:id="Rc9fc950d8212466f"/>
    <p:sldId xmlns:r="http://schemas.openxmlformats.org/officeDocument/2006/relationships" id="258" r:id="Rf25d36ce6487416d"/>
    <p:sldId xmlns:r="http://schemas.openxmlformats.org/officeDocument/2006/relationships" id="259" r:id="R6f50332169314d1e"/>
    <p:sldId xmlns:r="http://schemas.openxmlformats.org/officeDocument/2006/relationships" id="260" r:id="R0bafff94610e45ad"/>
    <p:sldId xmlns:r="http://schemas.openxmlformats.org/officeDocument/2006/relationships" id="261" r:id="R0c3da585ea6d40c4"/>
    <p:sldId xmlns:r="http://schemas.openxmlformats.org/officeDocument/2006/relationships" id="262" r:id="Rdaea9dab2d76472b"/>
    <p:sldId xmlns:r="http://schemas.openxmlformats.org/officeDocument/2006/relationships" id="263" r:id="Ra697c61fb72046ba"/>
    <p:sldId xmlns:r="http://schemas.openxmlformats.org/officeDocument/2006/relationships" id="264" r:id="Rfb9e094bd76f4ed4"/>
    <p:sldId xmlns:r="http://schemas.openxmlformats.org/officeDocument/2006/relationships" id="265" r:id="R40a8d6f2f2e343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e22e474eee46c2" /><Relationship Type="http://schemas.openxmlformats.org/officeDocument/2006/relationships/slideMaster" Target="/ppt/slideMasters/slideMaster1.xml" Id="R04d3af87884f41e4" /><Relationship Type="http://schemas.openxmlformats.org/officeDocument/2006/relationships/notesMaster" Target="/ppt/notesMasters/notesMaster1.xml" Id="R927e531c944848fb" /><Relationship Type="http://schemas.openxmlformats.org/officeDocument/2006/relationships/presProps" Target="/ppt/presProps.xml" Id="R141e13a8c88f4b9e" /><Relationship Type="http://schemas.openxmlformats.org/officeDocument/2006/relationships/tableStyles" Target="/ppt/tableStyles.xml" Id="R92f684fcaf3b40bc" /><Relationship Type="http://schemas.openxmlformats.org/officeDocument/2006/relationships/slide" Target="/ppt/slides/slide1.xml" Id="R54600f25e8894029" /><Relationship Type="http://schemas.openxmlformats.org/officeDocument/2006/relationships/slide" Target="/ppt/slides/slide2.xml" Id="Rc9fc950d8212466f" /><Relationship Type="http://schemas.openxmlformats.org/officeDocument/2006/relationships/slide" Target="/ppt/slides/slide3.xml" Id="Rf25d36ce6487416d" /><Relationship Type="http://schemas.openxmlformats.org/officeDocument/2006/relationships/slide" Target="/ppt/slides/slide4.xml" Id="R6f50332169314d1e" /><Relationship Type="http://schemas.openxmlformats.org/officeDocument/2006/relationships/slide" Target="/ppt/slides/slide5.xml" Id="R0bafff94610e45ad" /><Relationship Type="http://schemas.openxmlformats.org/officeDocument/2006/relationships/slide" Target="/ppt/slides/slide6.xml" Id="R0c3da585ea6d40c4" /><Relationship Type="http://schemas.openxmlformats.org/officeDocument/2006/relationships/slide" Target="/ppt/slides/slide7.xml" Id="Rdaea9dab2d76472b" /><Relationship Type="http://schemas.openxmlformats.org/officeDocument/2006/relationships/slide" Target="/ppt/slides/slide8.xml" Id="Ra697c61fb72046ba" /><Relationship Type="http://schemas.openxmlformats.org/officeDocument/2006/relationships/slide" Target="/ppt/slides/slide9.xml" Id="Rfb9e094bd76f4ed4" /><Relationship Type="http://schemas.openxmlformats.org/officeDocument/2006/relationships/slide" Target="/ppt/slides/slide10.xml" Id="R40a8d6f2f2e343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fdea3645e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587e9a5d24336" /><Relationship Type="http://schemas.openxmlformats.org/officeDocument/2006/relationships/notesMaster" Target="/ppt/notesMasters/notesMaster1.xml" Id="Rb2dd462d4b5449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bffac649f4ec8" /><Relationship Type="http://schemas.openxmlformats.org/officeDocument/2006/relationships/notesMaster" Target="/ppt/notesMasters/notesMaster1.xml" Id="R31ba60eb62fc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f62dd85d23496c" /><Relationship Type="http://schemas.openxmlformats.org/officeDocument/2006/relationships/notesMaster" Target="/ppt/notesMasters/notesMaster1.xml" Id="R6edfefeefa6e40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9a84ca08a04a22" /><Relationship Type="http://schemas.openxmlformats.org/officeDocument/2006/relationships/notesMaster" Target="/ppt/notesMasters/notesMaster1.xml" Id="Rfa1b36940e4643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3aba6abbc34566" /><Relationship Type="http://schemas.openxmlformats.org/officeDocument/2006/relationships/notesMaster" Target="/ppt/notesMasters/notesMaster1.xml" Id="R1c28c92318cd46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2c1e6659db4cc5" /><Relationship Type="http://schemas.openxmlformats.org/officeDocument/2006/relationships/notesMaster" Target="/ppt/notesMasters/notesMaster1.xml" Id="Rdffa12fe2d99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013f963cbf42b0" /><Relationship Type="http://schemas.openxmlformats.org/officeDocument/2006/relationships/notesMaster" Target="/ppt/notesMasters/notesMaster1.xml" Id="R127c5633097649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548438f3bc4261" /><Relationship Type="http://schemas.openxmlformats.org/officeDocument/2006/relationships/notesMaster" Target="/ppt/notesMasters/notesMaster1.xml" Id="R6908c2c4d3244e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9076920db44b0e" /><Relationship Type="http://schemas.openxmlformats.org/officeDocument/2006/relationships/notesMaster" Target="/ppt/notesMasters/notesMaster1.xml" Id="R3b2fe68dd15d44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09c50be1f44ca8" /><Relationship Type="http://schemas.openxmlformats.org/officeDocument/2006/relationships/notesMaster" Target="/ppt/notesMasters/notesMaster1.xml" Id="R081b5315030d4d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 presentation based on the implemented local Docker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external deployment claim: the project models the architecture locally using Docker networks.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modules mirror the public-cloud and private-cloud workload separation described in the project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Compose topology: proxy on public network, public API bridging the internal hybrid network, and private DB on a separate internal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API accesses private data only through the simulated hybrid-cloud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private API rejects ordinary browser calls because it requires X-Hybrid-Service-Token signed with the internal service secret.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schema intentionally avoids a cross-database foreign key because the public and private stores represent separate environments.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Compose scaling is a deterministic local cloud-bursting demonstration. Production systems would use metric-driven autoscaling.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local verification statements appear here. The live endpoint works when Docker Desktop runs on the demonstration machine.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deployment mapping is documented, but this project does not claim a live AWS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5b1971f744e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3e5842cd84c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e5ff9d5074c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25f59f37a43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9b163063b41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0b028612f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942961-0020-4990-ACD3-F1E9C44D5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0A2D81-05F5-4698-B483-83E1A5EFF6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CC2C4C-755A-47EE-8382-DCAC2829A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32C6C6-C18C-4C37-8E48-D06940E62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732EED-65C1-4846-9B79-F22CFE11C2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EC2D64-3350-4B71-AAB1-05177860D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95175A-BB57-4BC4-9485-1893F4315F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607E85-0FDD-422D-AB8D-66E74331E3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0A39D-8BAC-4C87-A819-12B61BF630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13FF5D-C760-4818-826B-FB273DDA8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ce79f69444a10" /><Relationship Type="http://schemas.openxmlformats.org/officeDocument/2006/relationships/slideLayout" Target="/ppt/slideLayouts/slideLayout1.xml" Id="Ra9cc2604758c4464" /><Relationship Type="http://schemas.openxmlformats.org/officeDocument/2006/relationships/slideLayout" Target="/ppt/slideLayouts/slideLayout2.xml" Id="R68eeccdf98ac4f51" /><Relationship Type="http://schemas.openxmlformats.org/officeDocument/2006/relationships/slideLayout" Target="/ppt/slideLayouts/slideLayout3.xml" Id="R1d4d85ee0e0a46ad" /><Relationship Type="http://schemas.openxmlformats.org/officeDocument/2006/relationships/slideLayout" Target="/ppt/slideLayouts/slideLayout4.xml" Id="R7b8ba1188dab4fc0" /><Relationship Type="http://schemas.openxmlformats.org/officeDocument/2006/relationships/slideLayout" Target="/ppt/slideLayouts/slideLayout5.xml" Id="R64abddd71b824eb3" /><Relationship Type="http://schemas.openxmlformats.org/officeDocument/2006/relationships/slideLayout" Target="/ppt/slideLayouts/slideLayout6.xml" Id="R8d2fb0d2909b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c2604758c4464"/>
    <p:sldLayoutId xmlns:r="http://schemas.openxmlformats.org/officeDocument/2006/relationships" id="2147483650" r:id="R68eeccdf98ac4f51"/>
    <p:sldLayoutId xmlns:r="http://schemas.openxmlformats.org/officeDocument/2006/relationships" id="2147483651" r:id="R1d4d85ee0e0a46ad"/>
    <p:sldLayoutId xmlns:r="http://schemas.openxmlformats.org/officeDocument/2006/relationships" id="2147483652" r:id="R7b8ba1188dab4fc0"/>
    <p:sldLayoutId xmlns:r="http://schemas.openxmlformats.org/officeDocument/2006/relationships" id="2147483653" r:id="R64abddd71b824eb3"/>
    <p:sldLayoutId xmlns:r="http://schemas.openxmlformats.org/officeDocument/2006/relationships" id="2147483654" r:id="R8d2fb0d2909b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4599cb06947b0" /><Relationship Type="http://schemas.openxmlformats.org/officeDocument/2006/relationships/notesSlide" Target="/ppt/notesSlides/notesSlide1.xml" Id="R92f67d963dbd46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515753c5b4021" /><Relationship Type="http://schemas.openxmlformats.org/officeDocument/2006/relationships/notesSlide" Target="/ppt/notesSlides/notesSlide2.xml" Id="R92c7dae48e51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7d90fb43d4497" /><Relationship Type="http://schemas.openxmlformats.org/officeDocument/2006/relationships/notesSlide" Target="/ppt/notesSlides/notesSlide3.xml" Id="Rd27eb660b465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3e66247e04bb2" /><Relationship Type="http://schemas.openxmlformats.org/officeDocument/2006/relationships/notesSlide" Target="/ppt/notesSlides/notesSlide4.xml" Id="Rd652f4ef1f424f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73e956a4d42ce" /><Relationship Type="http://schemas.openxmlformats.org/officeDocument/2006/relationships/notesSlide" Target="/ppt/notesSlides/notesSlide5.xml" Id="Rc7e55a70253d4f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c5d7abffa4bd6" /><Relationship Type="http://schemas.openxmlformats.org/officeDocument/2006/relationships/notesSlide" Target="/ppt/notesSlides/notesSlide6.xml" Id="Rfc2308407eef45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814f6913b408a" /><Relationship Type="http://schemas.openxmlformats.org/officeDocument/2006/relationships/notesSlide" Target="/ppt/notesSlides/notesSlide7.xml" Id="R89f1559a2a3348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d67649ddc4df7" /><Relationship Type="http://schemas.openxmlformats.org/officeDocument/2006/relationships/notesSlide" Target="/ppt/notesSlides/notesSlide8.xml" Id="R794866975b894d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ad22655fb46f0" /><Relationship Type="http://schemas.openxmlformats.org/officeDocument/2006/relationships/notesSlide" Target="/ppt/notesSlides/notesSlide9.xml" Id="Rbbbc0e4d3d5641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8048ee7dc4870" /><Relationship Type="http://schemas.openxmlformats.org/officeDocument/2006/relationships/notesSlide" Target="/ppt/notesSlides/notesSlide10.xml" Id="Rf6d360ba1c8a4c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A4B5A-B090-44D4-A066-BEE3D4D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042F9-8E8A-4B1D-B9B7-D7C14BA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7075A-B3EF-4586-B5B8-F6667859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Cloud Architecture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23113-D96B-4C1E-9541-ACDE72F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a Scalable College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567D9-948E-4D38-948B-D8AC3116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9EC"/>
                </a:solidFill>
                <a:latin typeface="Arial"/>
                <a:ea typeface="Arial"/>
                <a:cs typeface="Arial"/>
              </a:rPr>
              <a:t>College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1F41E-925C-4169-859C-1DCA9F95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9EC"/>
                </a:solidFill>
                <a:latin typeface="Arial"/>
                <a:ea typeface="Arial"/>
                <a:cs typeface="Arial"/>
              </a:rPr>
              <a:t>Public Cloud  ·  Private Cloud  ·  Secure Hybrid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F193F-6576-4E41-A04C-A5137D31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>
              <a:defRPr sz="1200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EC"/>
                </a:solidFill>
                <a:latin typeface="Arial"/>
                <a:ea typeface="Arial"/>
                <a:cs typeface="Arial"/>
              </a:rPr>
              <a:t>Admission | Course Registration | E-Learning | Academic Records | Finance</a:t>
            </a:r>
          </a:p>
        </p:txBody>
      </p:sp>
    </p:spTree>
    <p:extLst>
      <p:ext uri="{BB962C8B-B14F-4D97-AF65-F5344CB8AC3E}">
        <p14:creationId xmlns:p14="http://schemas.microsoft.com/office/powerpoint/2010/main" val="11541104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C0C06-DBFC-4342-80C1-D75D002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8B4B5-D554-495B-916C-70E77A5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College systems need both high public availability and strong protection for sensitive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F6070-CDF4-461B-91BD-1C30E0BB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2C9A1-8965-4AAA-AD44-3B614979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7BADA-1909-4859-B721-D04AD87D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11C"/>
          </a:solidFill>
          <a:ln xmlns:a="http://schemas.openxmlformats.org/drawingml/2006/main" w="9525">
            <a:solidFill>
              <a:srgbClr val="D9911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60E19-0F59-4782-8DDB-19912FC8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7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Admission deadlines and result publication create sudden spikes in student traffic.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9598F-2513-45EB-AF09-F93A4FB6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E3657-64C3-4283-954B-BE2C3FE0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42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Academic marks and financial transactions require restricted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C9454-F864-4E9D-9762-46D8D2F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CACD6-06A4-423B-9453-AB382B5C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81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One system must connect both workloads without exposing the private database.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1E4B6-F7B6-42BD-8A9E-465CE509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381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7760D-4568-4E17-A3F6-82482D1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43125"/>
            <a:ext cx="1428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7B197-B666-44A9-8857-3761C99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CACFF-BE56-46DC-9635-F2C15105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3476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00"/>
          </a:bodyPr>
          <a:lstStyle xmlns:a="http://schemas.openxmlformats.org/drawingml/2006/main">
            <a:def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Build a working college portal that separates public and private workloads, authenticates users with JWT, and demonstrates load balancing with cloud bursting.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4EEDF-0808-4F38-813D-5D2E6B40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Focus: a clear architecture that can be demonstrated during project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9B973-A108-4759-960A-09B0FBEA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62ACC-88CC-4CD7-BBF7-F68EA379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38033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DE7B8-0847-40C4-B40D-833DB990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Application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3C799-A4F4-42D6-B4B3-1BD5EEDF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prototype keeps the scope realistic while covering the core college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DC15F-46B1-458D-81C8-E691926B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1B977-C48F-49B1-9B33-33A80A8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04E1D-D80F-480F-BAAF-D71F8E0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E50CE-C1B2-4DEB-BD0F-43B1A67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Admission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D4A21-FED8-42C7-8E46-859C5670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Applicants submit programme and qualification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B17DD-4B98-446D-AA1B-9DE89D0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77C7A-F08E-4B72-97A2-2EB5E0B2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A7642-C39B-404E-8DD8-5C97941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Course registration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1DD61-9E11-45A5-81C1-3C5E1F6F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Students register for available courses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2AED8-6122-4B1E-B83A-7DAF0D7A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7638A-9897-4E3A-B397-25CB1F93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79675-52E8-4C82-9C31-1E7D79A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193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E-learning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B6B50-7180-4AB4-9F09-DB125A96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Course materials remain available during peak usage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08752-45EF-409A-967C-90EA0AC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D3359-F3BB-41E8-B7EC-9C314C65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B5558-B5E1-4350-B63D-2B126AF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Academic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89D43-B7D1-487F-8B40-27FBE3F4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Marks, grades and semesters stay private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FAE8F-7F81-4C6A-BEBD-5265397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C8CD8-AA56-47B6-9FD4-3297821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1A736-411C-476C-A8AF-6E39646E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Financial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10988-70DA-432C-B07C-EC751A8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Fees, payments and scholarship entries stay private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DB958-422F-4297-99D9-37926A36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1CE1E-5837-4F75-89CF-576460DE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2B40D-50CF-4269-96BE-85E0F60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Admin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6CF06-CABE-4F0F-B173-CA274BE8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Administrators inspect requests, health and capacity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A9EEB-DE38-4561-9AC8-58FA5F6D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DD6E3-ED63-4928-8743-9891678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8834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DB5702-E202-4DCC-8908-AFDBB11F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Hybrid cloud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C26B9-ADF4-4B0F-81D2-CFD0ECA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Nginx exposes only the public entry point. Private services and data remain on internal networks.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2639-6E83-4F93-B274-88BB8A52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E7413-E67F-4AA7-BF76-E4DF8A1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428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E3ACA-8622-4502-BB61-AD92B21F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907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/ STAFF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49E03-7012-41FB-B9C3-714BAE6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71675"/>
            <a:ext cx="714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93C16-4B33-4514-847A-08EA5A6F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526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82A4F-66B6-4C57-AD6A-B56DB525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907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87A26-76C9-41F1-A1DC-DA51ADED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76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12"/>
          </a:bodyPr>
          <a:lstStyle xmlns:a="http://schemas.openxmlformats.org/drawingml/2006/main">
            <a:def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Load balancer + reverse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D4C2D-D97B-4590-B67C-762674D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71675"/>
            <a:ext cx="714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65951-A1F6-4ED7-AE20-ECF682F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12858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8A4D8-4C13-4551-AFE6-A9496816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9072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5EA65-C9D1-42C6-BFB4-7D8AE2F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764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42"/>
          </a:bodyPr>
          <a:lstStyle xmlns:a="http://schemas.openxmlformats.org/drawingml/2006/main">
            <a:def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JWT, admission, courses, materials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71AF7-AAFA-4A5B-987B-1835F220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714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solidFill>
              <a:srgbClr val="08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4BBB3-B92D-46E0-A1BB-1B38A199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4763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5C9DB-A622-47A0-9BE2-8C2141CA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9072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5AEF7-20DC-4D55-A649-7DE77787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Authenticated service connection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210AD-7168-4458-A178-90A9D767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71675"/>
            <a:ext cx="619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95779-148E-44C6-8BF1-61E835DD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52625"/>
            <a:ext cx="1238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6F31D-50B7-4F2A-8944-5C50969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907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B6CED-396E-4180-B925-18BD3ABB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147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18980-3FD4-478A-BB2A-74D86C6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database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9DC9E-A4B8-4405-819F-1E550EFF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52875"/>
            <a:ext cx="119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Admissions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Courses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CF4B8-55D5-423F-86A9-C5E3BE7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B72E2-8281-4F49-8445-B8A22C28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718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database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1E3D9-4DE3-4767-B8D4-8314090E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4812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Academic records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Financial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85E25-B1E0-431E-920D-98FE43A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425"/>
            <a:ext cx="1524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E33AD-328A-4EA9-B779-0D83EB2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38425"/>
            <a:ext cx="1524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4E4A7-E320-42A1-A5A1-ACA9B2FA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62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>
            <a:defPPr>
              <a:defRPr sz="1500" b="1">
                <a:solidFill>
                  <a:srgbClr val="157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7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6C8"/>
                </a:solidFill>
                <a:latin typeface="Arial"/>
                <a:ea typeface="Arial"/>
                <a:cs typeface="Arial"/>
              </a:rPr>
              <a:t>Public cloud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B87F7-1C0A-4887-9863-0AD4097A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>
            <a:defPPr>
              <a:defRPr sz="1500" b="1">
                <a:solidFill>
                  <a:srgbClr val="6A4B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A4B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4BC3"/>
                </a:solidFill>
                <a:latin typeface="Arial"/>
                <a:ea typeface="Arial"/>
                <a:cs typeface="Arial"/>
              </a:rPr>
              <a:t>Private cloud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4955C-3851-46A1-BEDE-11A96F48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97"/>
          </a:bodyPr>
          <a:lstStyle xmlns:a="http://schemas.openxmlformats.org/drawingml/2006/main">
            <a:defPPr>
              <a:defRPr sz="135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565"/>
                </a:solidFill>
                <a:latin typeface="Arial"/>
                <a:ea typeface="Arial"/>
                <a:cs typeface="Arial"/>
              </a:rPr>
              <a:t>The browser never receives a direct route to the private API or private database.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027D7-97FF-44AC-912C-6DECA804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97F32D-5E46-4646-B496-872468A9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61040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78CBA-5171-49F0-9687-A97ADECB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and private workload separation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910AE-FF35-4CA9-8FDA-BC7FC05B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Each component sits in the environment that matches its traffic profile and sensitivity.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BEBC7-72A2-47DB-8BD3-9CEC9009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F950C-5199-49D6-9E40-E2C6306E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857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9F5FF"/>
          </a:solidFill>
          <a:ln xmlns:a="http://schemas.openxmlformats.org/drawingml/2006/main" w="9525">
            <a:solidFill>
              <a:srgbClr val="B9DA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A19D5-2EB9-44C9-9B68-971456E0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238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ABE5-5E52-44CA-A9EE-EB0DD6B5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F9507-C0AD-4CD4-9179-249446E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High-traffic student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5E92C-4CF0-42A0-B88B-2C35FC0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24D75-0D69-4A5F-A415-1F396618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Admission applications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ABE73-373C-4A33-9D86-5281DDE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48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3B85F-71F3-4189-B61F-24FF211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Course registration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61B77-F634-4CBE-BDBE-E97C3C8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24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1418C-68B1-4B88-AC08-37E603C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E-learning materials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1D64E-8092-415E-A7DF-93DF3A63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00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DF3FF-131B-4A22-8D34-BD0D8C9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Authentication and API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FAD1A-380C-44F2-A297-F0CF86B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857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D6C8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9EDFA-E048-496A-B757-12A18938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12858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A3B6F-512A-41C2-B949-01F8164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859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B509E-432C-476B-B456-4D0F8EC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Sensitive institutional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5CEFE-867C-46EA-BBEB-4F8D9F4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71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D9639-9B8B-45D8-9AD3-D41B56FC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Academic marks and grades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E6013-B34C-4735-BA83-12F2CC11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48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F1DD7-F6F5-42A8-A525-2C07D7AC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Financial transactions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18810-DCF8-4E35-BAF9-3F2375E9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12FAC-6D9E-428E-9152-CD68D2A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Private service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E70A8-0478-45A8-827B-88EB0AFF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00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F0602-5605-40A8-9F4A-EE01A0D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Private PostgreSQL database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8A7E0-5BAF-43E4-B56E-1619065D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A2416-2ECE-4A06-B766-72C7DB5C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12837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CBCF63-384D-4DCD-B521-8ABC1D1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Secure API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34ED6-3B83-4B19-BD5D-6E472E3F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JWT validates the student at the public edge. A separate short-lived token protects the internal private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44618-0D35-4F57-8553-FDCE019B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6B7C2-4EAE-49A8-889E-35F20E2E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142BD-BBA8-4BD7-9D9B-67EBB302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22A20-9420-4ABD-9C31-B03A3478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0AF29-FC86-4EBA-959E-D1D4617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2DAC9-F407-4B8E-B7E0-E045118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 sends credentials to the public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DC257-75BB-4CD2-8F28-604EFF2D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791D7-1CBD-456B-9785-A596A5FF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923D3-9317-4AD8-B862-33C19A24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AC32F-0D33-4D0F-A2C1-56829C3A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33147-764F-4711-85B2-4E6566DD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User 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65C01-B5B8-4225-8AA7-1AA9D8C3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Public API returns a JWT with user ID and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9DFB5-DF10-4495-88F4-8CE28ECB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B51B2-AA80-4BE1-AA83-FFBADB0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E4BB0-FD77-43D1-A8FB-9ED1CD1B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5F940-30ED-4BA6-B3EA-7D561307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CBB32-240D-435C-9ACD-89C549B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Gateway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62681-22A4-453C-911A-1A50B8ED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Public API validates JWT and creates a 60-second internal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DFDF5-19E2-4008-AC30-7544C2E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A049C-7C13-47A1-99A5-28ED3D09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D2D1D-133C-455C-8031-C4ED6B6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30D42-059E-402A-AA70-A4CD951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9F84D-EDF5-4F85-8D2B-7355C982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2B418-B843-4B19-9138-ACFFE7C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Private API verifies service purpose and record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7FD71-4495-406D-9FC2-7720A682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B4D309-07D6-4D59-8E05-1FB0B43D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B058D-3669-43E5-AD21-AB8F2C85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8565"/>
          </a:solidFill>
          <a:ln xmlns:a="http://schemas.openxmlformats.org/drawingml/2006/main" w="9525">
            <a:solidFill>
              <a:srgbClr val="1785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FC3BE-B0F5-4490-A975-D8D1B478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C2A8D-F082-47E8-9360-C45A4A2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Authorized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E1232-3A1F-4DC4-A0D1-BC30A499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Academic or finance records return through the gateway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729FF-952F-43E1-BA3E-7A532E7B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863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565"/>
                </a:solidFill>
                <a:latin typeface="Arial"/>
                <a:ea typeface="Arial"/>
                <a:cs typeface="Arial"/>
              </a:rPr>
              <a:t>Student ownership rule: students can request only their own private records.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FF4CB-57EC-4040-B61E-5CCC3F8D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8DEF5D-88E0-4460-810A-4A5D50ED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71079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7FE52-DC09-4A7E-A837-E559434C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design and container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8E08D-8024-46E1-8FB6-0EDA647B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Two PostgreSQL databases support independent public and private data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D0E7C-D877-41AC-A7D2-6900A0A8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4F16B-5BEC-4827-9ED7-4D8CC35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D43D3-3DA2-48FE-97FD-4C091C87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143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F03C0-F091-4B1F-BC9B-67DFDD81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database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A6490-0753-4227-9273-B44BF45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24125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admissions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courses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registrations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FE7D6-957B-4D54-A2D3-1A43514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26661-B4B4-4BEA-8085-E130200C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D8AEA-60DA-495D-A75A-E78F0F4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621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0B65E-08F4-4BBE-85EC-4C2ABFC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academic_records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financial_records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 ID works as a logical link between stores.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383CB-7409-4903-AF50-5618450F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solidFill>
              <a:srgbClr val="08A6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775CF-9B97-4A25-A572-344703C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>
              <a:defRPr sz="1125" b="1">
                <a:solidFill>
                  <a:srgbClr val="08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A6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A6A6"/>
                </a:solidFill>
                <a:latin typeface="Arial"/>
                <a:ea typeface="Arial"/>
                <a:cs typeface="Arial"/>
              </a:rPr>
              <a:t>No direct database connection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2EEE5-CB8E-46E3-9AFA-D2889A0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solidFill>
              <a:srgbClr val="08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30A74-2E25-47BC-81E7-443782C7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AFC76-E166-4CAB-A5B6-3728ACB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A2257-7DB2-40BE-A4C2-CDCAC270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Docker networks model the deployment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602BA-A821-4AF2-B620-16063A88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public_net serves proxy and public API</a:t>
            </a:r>
          </a:p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hybrid_net carries controlled service-to-service traffic</a:t>
            </a:r>
          </a:p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private_net holds the private API and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A40C0-9904-476F-9D8A-694131E5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784A9-27BC-4927-81B5-B8D36C5E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73009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40B5E-F35C-42CC-9832-64608F3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Load balancing and cloud bursting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4411-E7E0-443E-A7D7-368F80D5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public API can scale horizontally behind Nginx when student traffic increases.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A799C-8897-487F-84DB-9927B41E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68FE6-82A4-4DF3-8EF2-C67D213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Normal 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A4DFA-FF66-46E1-B0CF-A055710B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047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6E976-72C1-4748-BCD7-2E7A705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E4F06-8C03-41D6-81C9-DDD35193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14625"/>
            <a:ext cx="333375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F91ED-510B-4376-BCAC-A7405F52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17621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AB31C-2821-42BB-A114-F88BC0F9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1762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API ×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2DA1E-8A37-4753-8302-1FF91BBE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Peak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5D1E8-A1AD-4AF9-ACFA-DF82499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1047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76086-3047-4CBD-A077-ABFCF86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717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816C5-ED51-4FF7-9C07-FB41DE2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14625"/>
            <a:ext cx="3333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04B25-DFC3-4DDF-9205-3AB2EC59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9087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E971C-5E6E-4B1D-B0DA-768C8FC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9087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849EF-A300-483F-8A05-DB611A3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EADC0-39A0-4825-B011-C4912EC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671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90EB7-EFAC-4A19-B3D8-4E0FD713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05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793A7-DAA8-4AE2-A667-3363AF4D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2DBE3-DA3E-4DAD-BFF2-84945B72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05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8E279-AC51-4B45-9198-AB868EC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671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A68D2-F715-4255-84CA-A75383A8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05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D06D5-BC6E-4A89-AC6D-2F3EEBE6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E86EC-47BB-49B2-AE6C-6DB034AD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Demo command:  docker compose up -d --scale public-api=3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5BEB1-D5E1-4100-BB8F-6563A6A4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load-test script reports request latency and shows which public replicas handled requests.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BE642-AB19-4FF5-AC1C-85D5116D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6AAF8-C016-4B80-808C-6B1AEF0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47683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78D1C-8387-4958-92F8-C84056AA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Demonstration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DA54A-21EC-4FD3-ACF1-D00D823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working prototype supports a clear project-evaluation sequence.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E8DE3-0E80-4C5C-8494-C3F709B6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D45E2-232F-4212-B4DD-7BA5F42C5E8D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476750"/>
                <a:gridCol w="4000500"/>
              </a:tblGrid>
              <a:tr h="555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Demo step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evaluator sees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 demonstrated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Student login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JWT returned for the demo student account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Authenticated public access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Public service request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Materials and course list requested through Nginx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Load-balanced public workload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Private record request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Academic and finance APIs called through the gateway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Protected private workload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Admin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Admin observes request counts, status and configured replicas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Centralized monitoring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Load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Concurrent requests run before and after scaling replicas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Cloud-bursting simulation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25264-221C-4442-83D5-189A54F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>
            <a:defPPr>
              <a:defRPr sz="150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565"/>
                </a:solidFill>
                <a:latin typeface="Arial"/>
                <a:ea typeface="Arial"/>
                <a:cs typeface="Arial"/>
              </a:rPr>
              <a:t>Live endpoint: http://localhost:8080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CC345-FA75-40F2-B3AC-2B84EA50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Student: student@college.edu / Student@123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AD2D-0ABC-4BBF-80D2-7DA3AB46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5B351-BFC2-4BD3-83F0-32A96D0C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25842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8DF72-BA17-4C9E-A80C-8CE7DA88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Outcomes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3CB49-5A8B-4E4E-8B4A-52C1A529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prototype demonstrates the hybrid-cloud design as a working college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B5707-AEAA-474E-AFBC-9EA8D391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9908D-2646-4DAB-8C5C-8562DB3C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6C809-43CA-444A-9F4B-7175315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D3742-5F2C-4B78-8F5F-B2E94B7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97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Student-facing modules operate in the scalable public cloud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41DED-D175-493C-9CAC-565BBB9D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E052B-B970-489A-A3C1-348FFA5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86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Academic and financial data remain in the private cloud layer.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733F4-9336-4B81-8A03-D44A6A13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92D86-DB71-4B0F-8751-0FD555D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69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Nginx, JWT, internal service tokens and network separation provide a clear security 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474BB-0CA7-42C3-953B-325BFDA8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565"/>
          </a:solidFill>
          <a:ln xmlns:a="http://schemas.openxmlformats.org/drawingml/2006/main" w="9525">
            <a:solidFill>
              <a:srgbClr val="1785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18691-989B-4935-AC5C-6FA8BC80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597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Docker replicas and load testing demonstrate the scaling approach.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7BB9-8CCD-468C-9139-FC8F4FC8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095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F7FA-3BFA-46C8-8138-C1F7759B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CF439-591B-42CC-846E-E457056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24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3513-C48D-4446-8F82-852AD6C5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5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Deploy public services to a managed cloud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Use mTLS, managed secrets and audit logging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Add metric-driven autoscaling and alerting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8457B-1280-442D-8D65-CC272AE7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>
            <a:defPPr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3DC10-2378-4E4A-BA97-1AF90B1F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>
            <a:defPPr>
              <a:defRPr sz="13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43CC8-6AB7-46EA-92F7-B182AB16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201F6-E788-48DE-9197-0AF0034E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4422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2026-10-05T04:25:18.5020000Z</dcterms:created>
  <dcterms:modified xsi:type="dcterms:W3CDTF">2026-10-05T04:25:18.5020000Z</dcterms:modified>
</coreProperties>
</file>