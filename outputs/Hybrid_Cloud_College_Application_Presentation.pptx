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c1b4eabfcf4fc5" /><Relationship Type="http://schemas.openxmlformats.org/officeDocument/2006/relationships/extended-properties" Target="/docProps/app.xml" Id="R701e1f7bedf64921" /><Relationship Type="http://schemas.openxmlformats.org/officeDocument/2006/relationships/officeDocument" Target="/ppt/presentation.xml" Id="R1fd7134acf424a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b9ac72db3e4ae3"/>
  </p:sldMasterIdLst>
  <p:notesMasterIdLst>
    <p:notesMasterId xmlns:r="http://schemas.openxmlformats.org/officeDocument/2006/relationships" r:id="Rddfc2ceff37948d0"/>
  </p:notesMasterIdLst>
  <p:sldIdLst>
    <p:sldId xmlns:r="http://schemas.openxmlformats.org/officeDocument/2006/relationships" id="256" r:id="R00ffe7d917d14be0"/>
    <p:sldId xmlns:r="http://schemas.openxmlformats.org/officeDocument/2006/relationships" id="257" r:id="Rd23e5e80e06d4c49"/>
    <p:sldId xmlns:r="http://schemas.openxmlformats.org/officeDocument/2006/relationships" id="258" r:id="Rdc4a70bf1a4a4e44"/>
    <p:sldId xmlns:r="http://schemas.openxmlformats.org/officeDocument/2006/relationships" id="259" r:id="R1490aa314e944b63"/>
    <p:sldId xmlns:r="http://schemas.openxmlformats.org/officeDocument/2006/relationships" id="260" r:id="R50d825bf928b4640"/>
    <p:sldId xmlns:r="http://schemas.openxmlformats.org/officeDocument/2006/relationships" id="261" r:id="R6b5dfe2afecd4463"/>
    <p:sldId xmlns:r="http://schemas.openxmlformats.org/officeDocument/2006/relationships" id="262" r:id="R2d0d5aa833f94982"/>
    <p:sldId xmlns:r="http://schemas.openxmlformats.org/officeDocument/2006/relationships" id="263" r:id="Rb092caedfcf34b45"/>
    <p:sldId xmlns:r="http://schemas.openxmlformats.org/officeDocument/2006/relationships" id="264" r:id="R7bec18262da64cb0"/>
    <p:sldId xmlns:r="http://schemas.openxmlformats.org/officeDocument/2006/relationships" id="265" r:id="R785dd15ad0ff41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d6d4aac54b4553" /><Relationship Type="http://schemas.openxmlformats.org/officeDocument/2006/relationships/slideMaster" Target="/ppt/slideMasters/slideMaster1.xml" Id="R36b9ac72db3e4ae3" /><Relationship Type="http://schemas.openxmlformats.org/officeDocument/2006/relationships/notesMaster" Target="/ppt/notesMasters/notesMaster1.xml" Id="Rddfc2ceff37948d0" /><Relationship Type="http://schemas.openxmlformats.org/officeDocument/2006/relationships/presProps" Target="/ppt/presProps.xml" Id="R3037970dc0254d40" /><Relationship Type="http://schemas.openxmlformats.org/officeDocument/2006/relationships/tableStyles" Target="/ppt/tableStyles.xml" Id="Rdad36dc67bb34437" /><Relationship Type="http://schemas.openxmlformats.org/officeDocument/2006/relationships/slide" Target="/ppt/slides/slide1.xml" Id="R00ffe7d917d14be0" /><Relationship Type="http://schemas.openxmlformats.org/officeDocument/2006/relationships/slide" Target="/ppt/slides/slide2.xml" Id="Rd23e5e80e06d4c49" /><Relationship Type="http://schemas.openxmlformats.org/officeDocument/2006/relationships/slide" Target="/ppt/slides/slide3.xml" Id="Rdc4a70bf1a4a4e44" /><Relationship Type="http://schemas.openxmlformats.org/officeDocument/2006/relationships/slide" Target="/ppt/slides/slide4.xml" Id="R1490aa314e944b63" /><Relationship Type="http://schemas.openxmlformats.org/officeDocument/2006/relationships/slide" Target="/ppt/slides/slide5.xml" Id="R50d825bf928b4640" /><Relationship Type="http://schemas.openxmlformats.org/officeDocument/2006/relationships/slide" Target="/ppt/slides/slide6.xml" Id="R6b5dfe2afecd4463" /><Relationship Type="http://schemas.openxmlformats.org/officeDocument/2006/relationships/slide" Target="/ppt/slides/slide7.xml" Id="R2d0d5aa833f94982" /><Relationship Type="http://schemas.openxmlformats.org/officeDocument/2006/relationships/slide" Target="/ppt/slides/slide8.xml" Id="Rb092caedfcf34b45" /><Relationship Type="http://schemas.openxmlformats.org/officeDocument/2006/relationships/slide" Target="/ppt/slides/slide9.xml" Id="R7bec18262da64cb0" /><Relationship Type="http://schemas.openxmlformats.org/officeDocument/2006/relationships/slide" Target="/ppt/slides/slide10.xml" Id="R785dd15ad0ff41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ca7903c9c044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002c73789d4b2b" /><Relationship Type="http://schemas.openxmlformats.org/officeDocument/2006/relationships/notesMaster" Target="/ppt/notesMasters/notesMaster1.xml" Id="R2dc812e8bfff44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cddc6497414068" /><Relationship Type="http://schemas.openxmlformats.org/officeDocument/2006/relationships/notesMaster" Target="/ppt/notesMasters/notesMaster1.xml" Id="R63f8db042cd44a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05943870734579" /><Relationship Type="http://schemas.openxmlformats.org/officeDocument/2006/relationships/notesMaster" Target="/ppt/notesMasters/notesMaster1.xml" Id="R285a732fa75a4d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0843fe3d504b49" /><Relationship Type="http://schemas.openxmlformats.org/officeDocument/2006/relationships/notesMaster" Target="/ppt/notesMasters/notesMaster1.xml" Id="R6e2a09915af84a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70fee2bd4d4364" /><Relationship Type="http://schemas.openxmlformats.org/officeDocument/2006/relationships/notesMaster" Target="/ppt/notesMasters/notesMaster1.xml" Id="R0d8ca578350448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8c3e1efc834543" /><Relationship Type="http://schemas.openxmlformats.org/officeDocument/2006/relationships/notesMaster" Target="/ppt/notesMasters/notesMaster1.xml" Id="R2b6bf758d52141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bf4124bde444d5" /><Relationship Type="http://schemas.openxmlformats.org/officeDocument/2006/relationships/notesMaster" Target="/ppt/notesMasters/notesMaster1.xml" Id="Ra442924cd37b49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a81d55bd154412" /><Relationship Type="http://schemas.openxmlformats.org/officeDocument/2006/relationships/notesMaster" Target="/ppt/notesMasters/notesMaster1.xml" Id="R18e84910916145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f4e733c8fc47e1" /><Relationship Type="http://schemas.openxmlformats.org/officeDocument/2006/relationships/notesMaster" Target="/ppt/notesMasters/notesMaster1.xml" Id="Re09825466b4e4b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107228bc214de7" /><Relationship Type="http://schemas.openxmlformats.org/officeDocument/2006/relationships/notesMaster" Target="/ppt/notesMasters/notesMaster1.xml" Id="Ra18d2c3ad95b46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overview presentation based on the implemented local Docker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external deployment claim: the project models the architecture locally using Docker networks.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Implemented modules mirror the public-cloud and private-cloud workload separation described in the project abstract.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reflects the Compose topology: proxy on public network, public API bridging the internal hybrid network, and private DB on a separate internal network.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public API accesses private data only through the simulated hybrid-cloud connection.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private API rejects ordinary browser calls because it requires X-Hybrid-Service-Token signed with the internal service secret.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schema intentionally avoids a cross-database foreign key because the public and private stores represent separate environments.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Compose scaling is a deterministic local cloud-bursting demonstration. Production systems would use metric-driven autoscaling.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Only local verification statements appear here. The live endpoint works when Docker Desktop runs on the demonstration machine.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 deployment mapping is documented, but this project does not claim a live AWS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304366ec46487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595200e51b4c8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1d596a22044a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b88317e2f448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95c039e0db4f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d34357a7cc44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DE98DA-F8B6-4582-A14F-5AA70F897C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AB15E36-C672-453D-ACB7-0ABB287F34B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A6D6163-D478-47D8-87A0-359CB4A3EA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95FFDC-9D96-494F-8986-71B7349EDD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D911BF1-7B3B-489F-927D-6104F85FD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E1358B-0BEC-4901-84AB-09CD29391F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1727E3-197A-43A0-9116-E001B3613B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8385FB2-BAB5-4A14-897F-A6792484A53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8DF0DA-0338-48D3-A775-681F07539E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4EA9C4A-CFE0-47E8-BA5E-158F95DDD7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722be1e96c45d9" /><Relationship Type="http://schemas.openxmlformats.org/officeDocument/2006/relationships/slideLayout" Target="/ppt/slideLayouts/slideLayout1.xml" Id="R2d8141d4668b4cad" /><Relationship Type="http://schemas.openxmlformats.org/officeDocument/2006/relationships/slideLayout" Target="/ppt/slideLayouts/slideLayout2.xml" Id="R8db9ce9cf01043fd" /><Relationship Type="http://schemas.openxmlformats.org/officeDocument/2006/relationships/slideLayout" Target="/ppt/slideLayouts/slideLayout3.xml" Id="R3e0a75765c2f4195" /><Relationship Type="http://schemas.openxmlformats.org/officeDocument/2006/relationships/slideLayout" Target="/ppt/slideLayouts/slideLayout4.xml" Id="Re9b7ddfe364740ea" /><Relationship Type="http://schemas.openxmlformats.org/officeDocument/2006/relationships/slideLayout" Target="/ppt/slideLayouts/slideLayout5.xml" Id="Re44764f428ba4bda" /><Relationship Type="http://schemas.openxmlformats.org/officeDocument/2006/relationships/slideLayout" Target="/ppt/slideLayouts/slideLayout6.xml" Id="R4322dfd715ab4c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8141d4668b4cad"/>
    <p:sldLayoutId xmlns:r="http://schemas.openxmlformats.org/officeDocument/2006/relationships" id="2147483650" r:id="R8db9ce9cf01043fd"/>
    <p:sldLayoutId xmlns:r="http://schemas.openxmlformats.org/officeDocument/2006/relationships" id="2147483651" r:id="R3e0a75765c2f4195"/>
    <p:sldLayoutId xmlns:r="http://schemas.openxmlformats.org/officeDocument/2006/relationships" id="2147483652" r:id="Re9b7ddfe364740ea"/>
    <p:sldLayoutId xmlns:r="http://schemas.openxmlformats.org/officeDocument/2006/relationships" id="2147483653" r:id="Re44764f428ba4bda"/>
    <p:sldLayoutId xmlns:r="http://schemas.openxmlformats.org/officeDocument/2006/relationships" id="2147483654" r:id="R4322dfd715ab4c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763b7776ba49fa" /><Relationship Type="http://schemas.openxmlformats.org/officeDocument/2006/relationships/notesSlide" Target="/ppt/notesSlides/notesSlide1.xml" Id="R52158d9d16a746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c8ab6723fe4599" /><Relationship Type="http://schemas.openxmlformats.org/officeDocument/2006/relationships/notesSlide" Target="/ppt/notesSlides/notesSlide2.xml" Id="Rd2aa6067c9b446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9743f7864e4307" /><Relationship Type="http://schemas.openxmlformats.org/officeDocument/2006/relationships/notesSlide" Target="/ppt/notesSlides/notesSlide3.xml" Id="R5fd7c266bd4041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a318922a504fbc" /><Relationship Type="http://schemas.openxmlformats.org/officeDocument/2006/relationships/notesSlide" Target="/ppt/notesSlides/notesSlide4.xml" Id="R7be86a207dcc41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56a8adcc5c4747" /><Relationship Type="http://schemas.openxmlformats.org/officeDocument/2006/relationships/notesSlide" Target="/ppt/notesSlides/notesSlide5.xml" Id="R7690f877b6e444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f0190620944dd3" /><Relationship Type="http://schemas.openxmlformats.org/officeDocument/2006/relationships/notesSlide" Target="/ppt/notesSlides/notesSlide6.xml" Id="Red416c524b9a42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0fb08cc2474f50" /><Relationship Type="http://schemas.openxmlformats.org/officeDocument/2006/relationships/notesSlide" Target="/ppt/notesSlides/notesSlide7.xml" Id="R262d59b4356640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2bacd3a13c4af7" /><Relationship Type="http://schemas.openxmlformats.org/officeDocument/2006/relationships/notesSlide" Target="/ppt/notesSlides/notesSlide8.xml" Id="Rbb452074fea948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0cd7eff8f34ba0" /><Relationship Type="http://schemas.openxmlformats.org/officeDocument/2006/relationships/notesSlide" Target="/ppt/notesSlides/notesSlide9.xml" Id="Rce111f74dab343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35b01685fb4eb1" /><Relationship Type="http://schemas.openxmlformats.org/officeDocument/2006/relationships/notesSlide" Target="/ppt/notesSlides/notesSlide10.xml" Id="R7a878847a4c442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F8AEE-DCE6-428A-843A-EAB4D707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6A6"/>
          </a:solidFill>
          <a:ln xmlns:a="http://schemas.openxmlformats.org/drawingml/2006/main" w="9525">
            <a:solidFill>
              <a:srgbClr val="08A6A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862AB-9C03-4422-8C69-45DB96A1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6A6"/>
          </a:solidFill>
          <a:ln xmlns:a="http://schemas.openxmlformats.org/drawingml/2006/main" w="9525">
            <a:solidFill>
              <a:srgbClr val="08A6A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C00DB-34F7-4844-BE19-08A81C1D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Hybrid Cloud Architecture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4F5D5-EFFA-4214-8665-468D5F55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a Scalable College Application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A6EFC-1DCC-4D87-9BED-DA9856AE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>
            <a:defPPr>
              <a:defRPr sz="1425" b="0">
                <a:solidFill>
                  <a:srgbClr val="BFD9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BFD9E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FD9EC"/>
                </a:solidFill>
                <a:latin typeface="Arial"/>
                <a:ea typeface="Arial"/>
                <a:cs typeface="Arial"/>
              </a:rPr>
              <a:t>College project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915EE-9743-43B2-9B18-12F02EF8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>
            <a:defPPr>
              <a:defRPr sz="1275" b="0">
                <a:solidFill>
                  <a:srgbClr val="BFD9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D9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D9EC"/>
                </a:solidFill>
                <a:latin typeface="Arial"/>
                <a:ea typeface="Arial"/>
                <a:cs typeface="Arial"/>
              </a:rPr>
              <a:t>Public Cloud  ·  Private Cloud  ·  Secure Hybrid Connection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C30A8-11ED-4855-BA2C-9A77AAE5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>
            <a:defPPr>
              <a:defRPr sz="1200" b="0">
                <a:solidFill>
                  <a:srgbClr val="BFD9E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FD9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FD9EC"/>
                </a:solidFill>
                <a:latin typeface="Arial"/>
                <a:ea typeface="Arial"/>
                <a:cs typeface="Arial"/>
              </a:rPr>
              <a:t>Admission | Course Registration | E-Learning | Academic Records | Finance</a:t>
            </a:r>
          </a:p>
        </p:txBody>
      </p:sp>
    </p:spTree>
    <p:extLst>
      <p:ext uri="{BB962C8B-B14F-4D97-AF65-F5344CB8AC3E}">
        <p14:creationId xmlns:p14="http://schemas.microsoft.com/office/powerpoint/2010/main" val="10789550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F9B76E-85F1-4246-ACD6-2D637173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Project problem and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39CEE-1E56-43FC-A6B8-CE671F53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College systems need both high public availability and strong protection for sensitive records.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5CC05-A8D9-41BC-B31F-701C5FA3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7FDF6-02FC-499E-825C-9E568DDB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>
            <a:defPPr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The challenge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70C03-BA7A-4ADB-8EB9-16671A21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11C"/>
          </a:solidFill>
          <a:ln xmlns:a="http://schemas.openxmlformats.org/drawingml/2006/main" w="9525">
            <a:solidFill>
              <a:srgbClr val="D9911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A5BEF-97A2-4236-B6EF-38FF608E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047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Admission deadlines and result publication create sudden spikes in student traffic.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BF1D5-86FC-4919-A79A-4225DF01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4BC3"/>
          </a:solidFill>
          <a:ln xmlns:a="http://schemas.openxmlformats.org/drawingml/2006/main" w="9525">
            <a:solidFill>
              <a:srgbClr val="6A4BC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D7D62-CBF0-4683-BB10-4C523300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242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Academic marks and financial transactions require restricted access.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1E4FA0-46CC-42D0-8CDD-F06D53CD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A6A6"/>
          </a:solidFill>
          <a:ln xmlns:a="http://schemas.openxmlformats.org/drawingml/2006/main" w="9525">
            <a:solidFill>
              <a:srgbClr val="08A6A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F8BF8-03F9-4FA1-8254-F5E89438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281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One system must connect both workloads without exposing the private database.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7FABF-A9E7-499D-BEBF-D6673821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4381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EAF4F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D10AC-808A-425E-B3BB-E2BF2820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43125"/>
            <a:ext cx="1428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5E433A-E72D-47E0-9215-BF1ECB50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8122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C26C32-4D85-4D0A-AF96-2A927B65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28900"/>
            <a:ext cx="3476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600"/>
          </a:bodyPr>
          <a:lstStyle xmlns:a="http://schemas.openxmlformats.org/drawingml/2006/main">
            <a:defPPr>
              <a:defRPr sz="18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Build a working college portal that separates public and private workloads, authenticates users with JWT, and demonstrates load balancing with cloud bursting.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A422F5-DC12-4E87-9E0D-8D1377B6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957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444"/>
          </a:bodyPr>
          <a:lstStyle xmlns:a="http://schemas.openxmlformats.org/drawingml/2006/main">
            <a:def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Focus: a clear architecture that can be demonstrated during project evaluation.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D32C7-CCBC-4912-8441-F9CEFC37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828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Hybrid Cloud Architecture Design for a Scalable College Application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18463-75E4-4AEC-B1FF-28913A8E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857449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E32F99-1E7B-414F-B7EA-0B11E5DD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Application 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5AF32-B754-4172-B94D-93A129AC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The prototype keeps the scope realistic while covering the core college workflows.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6DEFA-4A2D-48F2-9554-03044D3D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96B17-39F9-4A40-A5B4-B20ECA2E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190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0D118-6CB7-4B5D-A70C-F372675C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1908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07346-1684-45BA-879D-60EB9FA2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2847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Admission portal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1E5F7-F3F1-4BA5-9947-DDD5C648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8479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Applicants submit programme and qualification details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CEB11-EF00-472E-8282-85994FA9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190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F74AF-7B00-4A55-930A-5329E235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1908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F4AC1-C94A-49DB-ACE6-840F8063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19300"/>
            <a:ext cx="2847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Course registration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7A4E2-36CE-47A9-AAF7-444E8813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28479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Students register for available courses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225C5-C7DE-4E23-B0E5-EE2B6B5A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190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F7984-CB23-4814-BDA9-AB49B227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1908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1397A-5495-4030-AA64-64FD6DA4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19300"/>
            <a:ext cx="2847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E-learning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12DEC-FF87-41B9-8233-2E28BE14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28479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Course materials remain available during peak usage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34C215-122D-43E3-A554-56831C46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3190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2D11F2-64AC-4678-9951-A6DD04F8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31908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4BC3"/>
          </a:solidFill>
          <a:ln xmlns:a="http://schemas.openxmlformats.org/drawingml/2006/main" w="9525">
            <a:solidFill>
              <a:srgbClr val="6A4BC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2C732F-6E52-4FFF-8808-95232EF0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2847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Academic records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145FC6-417A-41C9-8098-2224931D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28479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Marks, grades and semesters stay private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4AAEE7-606C-4827-963D-A0402D7D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3190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78F2A5-DBDF-4C46-BE82-1E4C74DD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31908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4BC3"/>
          </a:solidFill>
          <a:ln xmlns:a="http://schemas.openxmlformats.org/drawingml/2006/main" w="9525">
            <a:solidFill>
              <a:srgbClr val="6A4BC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758922-38EB-40B1-90E4-272533D4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19550"/>
            <a:ext cx="2847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Financial records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2F7B33-B317-472C-A199-D0568C8D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81500"/>
            <a:ext cx="28479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Fees, payments and scholarship entries stay private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F82805-80EC-49AA-8904-8263686A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10000"/>
            <a:ext cx="3190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2D639F-BE4A-4012-AF84-C515B782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10000"/>
            <a:ext cx="31908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A6A6"/>
          </a:solidFill>
          <a:ln xmlns:a="http://schemas.openxmlformats.org/drawingml/2006/main" w="9525">
            <a:solidFill>
              <a:srgbClr val="08A6A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371ACF-3A5D-416F-9984-898A320C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19550"/>
            <a:ext cx="2847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Admin monitoring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8BDB03-7E51-499F-9477-88B86D0E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81500"/>
            <a:ext cx="28479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Administrators inspect requests, health and capacity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88E550-ABE0-49AF-9215-6E8D3BC6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828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Hybrid Cloud Architecture Design for a Scalable College Application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BF6FCE-6ECC-4CE8-A121-1183F118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257171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3C1432-6465-4D11-9E6C-2DF1AD93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Hybrid cloud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18EA2-A7DC-4A48-9ACB-88F4C5C8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Nginx exposes only the public entry point. Private services and data remain on internal networks.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80DAD-2B18-4591-9A67-75DBCFF3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C4E19-D888-48E0-B2C6-405891D9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1428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377BB-3D19-44BB-B228-F53BEF5B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9072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STUDENTS / STAFF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3C587-CFB6-4B40-8E4F-D9735AA9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971675"/>
            <a:ext cx="714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0">
            <a:solidFill>
              <a:srgbClr val="1576C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43709-710A-42BD-8425-171CBE1B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952625"/>
            <a:ext cx="952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1CC9A-416F-48BD-A222-AD56C9E8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99072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NGINX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E3C2E-8436-498E-A8A5-95318A5A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764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12"/>
          </a:bodyPr>
          <a:lstStyle xmlns:a="http://schemas.openxmlformats.org/drawingml/2006/main">
            <a:defPPr>
              <a:defRPr sz="9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Load balancer + reverse proxy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2D4D88-A875-4659-B4C2-0E3CCE1E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71675"/>
            <a:ext cx="714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0">
            <a:solidFill>
              <a:srgbClr val="1576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62775-F4EC-47A0-B185-4EF21351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52625"/>
            <a:ext cx="128587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BB7D3-4A13-4929-88F9-3692982F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90725"/>
            <a:ext cx="1285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4A895-533E-4214-BD80-F60490E4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76475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42"/>
          </a:bodyPr>
          <a:lstStyle xmlns:a="http://schemas.openxmlformats.org/drawingml/2006/main">
            <a:defPPr>
              <a:defRPr sz="9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JWT, admission, courses, materials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F0F068-2827-43B7-98E4-DD0AE5C3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71675"/>
            <a:ext cx="714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A6A6"/>
          </a:solidFill>
          <a:ln xmlns:a="http://schemas.openxmlformats.org/drawingml/2006/main" w="0">
            <a:solidFill>
              <a:srgbClr val="08A6A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CB875A-7BF5-47D3-8381-2DC07688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52625"/>
            <a:ext cx="147637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8A6A6"/>
          </a:solidFill>
          <a:ln xmlns:a="http://schemas.openxmlformats.org/drawingml/2006/main" w="9525">
            <a:solidFill>
              <a:srgbClr val="08A6A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415B29-18C0-43C9-AB19-66CC65E0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90725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HYBRID NETWORK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E1ED00-DCDD-4812-B58B-FF698D19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764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9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Authenticated service connection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4EB8CD-AE94-403A-9E0E-CA71A51F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971675"/>
            <a:ext cx="6191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A4BC3"/>
          </a:solidFill>
          <a:ln xmlns:a="http://schemas.openxmlformats.org/drawingml/2006/main" w="0">
            <a:solidFill>
              <a:srgbClr val="6A4BC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6B5581-AF72-4CA8-9B35-F36FDFCC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952625"/>
            <a:ext cx="1238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A4BC3"/>
          </a:solidFill>
          <a:ln xmlns:a="http://schemas.openxmlformats.org/drawingml/2006/main" w="9525">
            <a:solidFill>
              <a:srgbClr val="6A4BC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24FC61-A890-4D69-896D-93A630A9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9907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PRIVATE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BDA0C0-07D6-4271-A1E6-CE5C74E3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1470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8C7118-7EE2-4E60-B460-5F7B4D20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71875"/>
            <a:ext cx="128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500"/>
          </a:bodyPr>
          <a:lstStyle xmlns:a="http://schemas.openxmlformats.org/drawingml/2006/main">
            <a:def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Public database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5F1307-CD89-40A9-825B-6B89EDEB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952875"/>
            <a:ext cx="1190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000"/>
          </a:bodyPr>
          <a:lstStyle xmlns:a="http://schemas.openxmlformats.org/drawingml/2006/main">
            <a:def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Students</a:t>
            </a:r>
          </a:p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Admissions</a:t>
            </a:r>
          </a:p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Courses</a:t>
            </a:r>
          </a:p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Materials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1FF21C-4787-433C-9582-D5026E06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14700"/>
            <a:ext cx="1714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338D36-2FF6-4BA9-9551-C19893A3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71875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500"/>
          </a:bodyPr>
          <a:lstStyle xmlns:a="http://schemas.openxmlformats.org/drawingml/2006/main">
            <a:def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Private database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93AF9A-D9F9-4350-8C29-304D409B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48125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Academic records</a:t>
            </a:r>
          </a:p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Financial records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770771-D6C2-4795-A953-DF1155E4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38425"/>
            <a:ext cx="152400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0">
            <a:solidFill>
              <a:srgbClr val="1576C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02E524-07C5-4FEA-ADDE-457CC61A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38425"/>
            <a:ext cx="152400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A4BC3"/>
          </a:solidFill>
          <a:ln xmlns:a="http://schemas.openxmlformats.org/drawingml/2006/main" w="0">
            <a:solidFill>
              <a:srgbClr val="6A4BC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20F7E5-F9C5-4729-B1B0-C66951A4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1625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>
            <a:defPPr>
              <a:defRPr sz="1500" b="1">
                <a:solidFill>
                  <a:srgbClr val="1576C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576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76C8"/>
                </a:solidFill>
                <a:latin typeface="Arial"/>
                <a:ea typeface="Arial"/>
                <a:cs typeface="Arial"/>
              </a:rPr>
              <a:t>Public cloud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A46484-C089-47A8-9BDB-2E5E4F01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625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167"/>
          </a:bodyPr>
          <a:lstStyle xmlns:a="http://schemas.openxmlformats.org/drawingml/2006/main">
            <a:defPPr>
              <a:defRPr sz="1500" b="1">
                <a:solidFill>
                  <a:srgbClr val="6A4B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6A4BC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A4BC3"/>
                </a:solidFill>
                <a:latin typeface="Arial"/>
                <a:ea typeface="Arial"/>
                <a:cs typeface="Arial"/>
              </a:rPr>
              <a:t>Private cloud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C87039-8310-40AD-854C-E05762D5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626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297"/>
          </a:bodyPr>
          <a:lstStyle xmlns:a="http://schemas.openxmlformats.org/drawingml/2006/main">
            <a:defPPr>
              <a:defRPr sz="1350" b="1">
                <a:solidFill>
                  <a:srgbClr val="1785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7856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8565"/>
                </a:solidFill>
                <a:latin typeface="Arial"/>
                <a:ea typeface="Arial"/>
                <a:cs typeface="Arial"/>
              </a:rPr>
              <a:t>The browser never receives a direct route to the private API or private database.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EF0941-2FAE-45D1-8F62-B7EED47D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828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Hybrid Cloud Architecture Design for a Scalable College Application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A28294-E5A0-4330-8C43-275C6624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509364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557D6A-AAEF-48E0-986B-A522CDAA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Public and private workload separation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D9D09-6CFA-457C-A71B-DBFCE91D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Each component sits in the environment that matches its traffic profile and sensitivity.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160F8-8637-4C23-9B84-D675939F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AB686-A50C-4021-8B99-8AD8854F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485775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9F5FF"/>
          </a:solidFill>
          <a:ln xmlns:a="http://schemas.openxmlformats.org/drawingml/2006/main" w="9525">
            <a:solidFill>
              <a:srgbClr val="B9DAF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A8E91-8FF2-4E33-9829-97035C21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1238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AAA68-ED3F-4FD5-AB35-1B888CEF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8597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 CLOUD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38B4F5-960D-464F-BA8D-F5CE2B0B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>
            <a:defPPr>
              <a:defRPr sz="21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High-traffic student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541AB-D851-4928-B084-D3CB1E82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718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E89BE-D1CF-4C81-9487-A4F0134E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95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Admission applications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F32FB7-4079-401A-B66B-B786FCBA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480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FE2210-8246-4E9F-8ED4-1475BE30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Course registration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A8781-D4CE-4B88-8D85-8173DB69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243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36CF65-6223-4924-9B15-C5597F2B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48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E-learning materials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EC45EB-A88F-4B98-A6AE-2B594F50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005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BE3958-E140-4386-B791-FBE81594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243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Authentication and API gateway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724D59-70E3-447B-BFEB-6AB20048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485775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D6C8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E54A02-A6D0-4150-BD60-C4382EE2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47875"/>
            <a:ext cx="128587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A4BC3"/>
          </a:solidFill>
          <a:ln xmlns:a="http://schemas.openxmlformats.org/drawingml/2006/main" w="9525">
            <a:solidFill>
              <a:srgbClr val="6A4BC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6D39F2-194C-494D-84B8-0F11FE76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85975"/>
            <a:ext cx="1285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PRIVATE CLOUD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1CDDCD-ADF6-424E-8761-8852DDF8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241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>
            <a:defPPr>
              <a:defRPr sz="21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Sensitive institutional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889D5E-BD79-4CFF-B985-8F7F0E81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718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4BC3"/>
          </a:solidFill>
          <a:ln xmlns:a="http://schemas.openxmlformats.org/drawingml/2006/main" w="9525">
            <a:solidFill>
              <a:srgbClr val="6A4BC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07A19C-74E7-4188-B672-7B7A7FFD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956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Academic marks and grades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634555-CAC3-4D05-B7B5-EF1C4A6C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480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4BC3"/>
          </a:solidFill>
          <a:ln xmlns:a="http://schemas.openxmlformats.org/drawingml/2006/main" w="9525">
            <a:solidFill>
              <a:srgbClr val="6A4BC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A1D048-78E0-444D-9228-780CE0CB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718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Financial transactions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D20BF0-21B9-4A06-8201-E5DB27CD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243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4BC3"/>
          </a:solidFill>
          <a:ln xmlns:a="http://schemas.openxmlformats.org/drawingml/2006/main" w="9525">
            <a:solidFill>
              <a:srgbClr val="6A4BC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30678F-0F8D-4530-B708-BACAF493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481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Private service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DC3425-E31F-4A36-97F2-DA66711D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005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4BC3"/>
          </a:solidFill>
          <a:ln xmlns:a="http://schemas.openxmlformats.org/drawingml/2006/main" w="9525">
            <a:solidFill>
              <a:srgbClr val="6A4BC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4E9129-C12D-4EBC-9691-E954C676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243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Private PostgreSQL database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B4B272-5E2D-4343-8C88-D00B06E7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828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Hybrid Cloud Architecture Design for a Scalable College Application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D31E97-9638-492E-A05B-0E7FA945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339809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402197-701E-47AF-B836-CD1692CE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Secure API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26088-CD00-457C-A76A-967C43B7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JWT validates the student at the public edge. A separate short-lived token protects the internal private request.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ACE67-F625-46B9-85E5-B265D86B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95696-64F3-4088-9812-F4AA1E49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809750" cy="2381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B93FC-F111-402B-8E4B-F09A1006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0500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7317F-CF23-4C5F-B289-3FF0986A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288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53686-210F-4C38-931F-0981F0E1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Sign 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763C3-AB1B-445E-9BAC-2E16AC77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466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Student sends credentials to the public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49CE9-F2E5-4E2C-92F0-CB0B664F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81325"/>
            <a:ext cx="2571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solidFill>
              <a:srgbClr val="C9D8E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AAC945-D5E6-434A-BDD1-E8771C2A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1809750" cy="2381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3B5E1-3899-472C-A087-B6C14E07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0500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54582-F5D0-4704-BF35-2F33F801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288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7CC8A5-3F42-460B-A2CD-D4E461CC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813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User JWT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395A5-D49A-4F65-B251-F29FC028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81350"/>
            <a:ext cx="1466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Public API returns a JWT with user ID and 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C34A76-D583-49AD-8A27-D9B596DE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81325"/>
            <a:ext cx="2571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solidFill>
              <a:srgbClr val="C9D8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D797A-386B-4DD7-B384-F926AFC4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90750"/>
            <a:ext cx="1809750" cy="2381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E4281D-7D0B-4822-8A20-3732B3A6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90500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8A6A6"/>
          </a:solidFill>
          <a:ln xmlns:a="http://schemas.openxmlformats.org/drawingml/2006/main" w="9525">
            <a:solidFill>
              <a:srgbClr val="08A6A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733F4C-7112-45C6-A986-99927DBE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288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7548B9-EF9D-4BAF-90FE-F9010B85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813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Gateway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4C21E8-5EA7-49EF-A48A-3DE81287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81350"/>
            <a:ext cx="1466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Public API validates JWT and creates a 60-second internal token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0C3609-AFF4-4845-A322-E502EE9D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81325"/>
            <a:ext cx="2571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solidFill>
              <a:srgbClr val="C9D8E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A71F62-E1DB-4D07-85D7-C1DE1A38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1809750" cy="2381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DBBC91-FD70-4A40-B198-BF29543E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0500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6A4BC3"/>
          </a:solidFill>
          <a:ln xmlns:a="http://schemas.openxmlformats.org/drawingml/2006/main" w="9525">
            <a:solidFill>
              <a:srgbClr val="6A4BC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4172F3-5C21-40FC-9852-DAD1C09D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288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B063DC-A38E-4572-ADFE-CDF345A9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813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Private check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19A0F5-3451-437F-A76B-06827B26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81350"/>
            <a:ext cx="1466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Private API verifies service purpose and record ownership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511763-A1E9-4409-A12F-EBCDD73A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81325"/>
            <a:ext cx="2571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8E5"/>
          </a:solidFill>
          <a:ln xmlns:a="http://schemas.openxmlformats.org/drawingml/2006/main" w="0">
            <a:solidFill>
              <a:srgbClr val="C9D8E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66E86E-2B5A-42CA-A83E-1CC3AE5A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90750"/>
            <a:ext cx="1809750" cy="23812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22CEC3-ACE9-451C-9B3A-5BDDEC8B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905000"/>
            <a:ext cx="571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8565"/>
          </a:solidFill>
          <a:ln xmlns:a="http://schemas.openxmlformats.org/drawingml/2006/main" w="9525">
            <a:solidFill>
              <a:srgbClr val="17856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482BAF-6EFD-4634-A70C-879824D5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0288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60FBA6-F3E0-4AA1-848E-04A8CFA9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813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>
            <a:def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Authorized data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BE3B90-C16A-4636-B955-F982E14D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81350"/>
            <a:ext cx="1466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Academic or finance records return through the gateway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3900F0-0451-4685-A9E5-5E3B99EF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863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>
            <a:defPPr>
              <a:defRPr sz="1425" b="1">
                <a:solidFill>
                  <a:srgbClr val="1785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7856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8565"/>
                </a:solidFill>
                <a:latin typeface="Arial"/>
                <a:ea typeface="Arial"/>
                <a:cs typeface="Arial"/>
              </a:rPr>
              <a:t>Student ownership rule: students can request only their own private records.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AAB656-8DE8-4F5A-872E-DA84DC1B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828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Hybrid Cloud Architecture Design for a Scalable College Application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ECAF1D-18A9-42CC-B58A-F6B72ED5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567269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083D87-9843-465E-A731-EB07BDDF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Data design and container topology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33416-97F3-4495-91CD-1B061155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Two PostgreSQL databases support independent public and private data boundaries.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72CC6-486C-4463-8893-A8843EC6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3E8C5-E5F0-4104-9289-F8FB8666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38987-5C54-427C-AB4F-A56F5CB9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3143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57076-A973-4EEC-A16F-B319F1A1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62175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Public database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7103B-D58E-4E4E-8A2A-D1B7E6DA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24125"/>
            <a:ext cx="28003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students</a:t>
            </a:r>
          </a:p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admissions</a:t>
            </a:r>
          </a:p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courses</a:t>
            </a:r>
          </a:p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registrations</a:t>
            </a:r>
          </a:p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materials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E22E5-AD63-4E3D-A81A-5950FC79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F40B4-D4CE-4A93-A790-1F56DC0A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1432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4BC3"/>
          </a:solidFill>
          <a:ln xmlns:a="http://schemas.openxmlformats.org/drawingml/2006/main" w="9525">
            <a:solidFill>
              <a:srgbClr val="6A4BC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0235F-41DC-4A0C-99AF-E0D8DFF9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62175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>
            <a:def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Private database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EEE0C-6DE3-4425-B65B-0315B70A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24125"/>
            <a:ext cx="28003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academic_records</a:t>
            </a:r>
          </a:p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financial_records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Student ID works as a logical link between stores.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9C356-99F5-4A72-B38E-27F094CC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905125"/>
            <a:ext cx="1143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A6A6"/>
          </a:solidFill>
          <a:ln xmlns:a="http://schemas.openxmlformats.org/drawingml/2006/main" w="0">
            <a:solidFill>
              <a:srgbClr val="08A6A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243E70-FFB3-4834-874B-1FF5DD5A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52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>
            <a:defPPr>
              <a:defRPr sz="1125" b="1">
                <a:solidFill>
                  <a:srgbClr val="08A6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8A6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A6A6"/>
                </a:solidFill>
                <a:latin typeface="Arial"/>
                <a:ea typeface="Arial"/>
                <a:cs typeface="Arial"/>
              </a:rPr>
              <a:t>No direct database connection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98AEC8-CF06-4F3F-BF4C-1FEF09BD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05125"/>
            <a:ext cx="1143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A6A6"/>
          </a:solidFill>
          <a:ln xmlns:a="http://schemas.openxmlformats.org/drawingml/2006/main" w="0">
            <a:solidFill>
              <a:srgbClr val="08A6A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33DE1-AE87-4DC3-B999-CF90EDC9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>
            <a:def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Public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BD8E35-DF79-4E68-9952-7A62002C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717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544"/>
          </a:bodyPr>
          <a:lstStyle xmlns:a="http://schemas.openxmlformats.org/drawingml/2006/main">
            <a:def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Private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32247E-D13B-4474-A0D2-B2D62792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>
            <a:defPPr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Docker networks model the deployment boundaries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73F156-06F9-4EB9-BFC7-37FB449C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>
            <a:def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public_net serves proxy and public API</a:t>
            </a:r>
          </a:p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hybrid_net carries controlled service-to-service traffic</a:t>
            </a:r>
          </a:p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private_net holds the private API and database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DB2A47-58D5-4FF6-9D98-32291EAD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828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Hybrid Cloud Architecture Design for a Scalable College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92E492-8F2E-4FE6-B22E-7B2C4EFD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198641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984B8E-DB59-43C8-B00D-40FE4237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Load balancing and cloud bursting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152CF-2436-4186-A6FB-389931FD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The public API can scale horizontally behind Nginx when student traffic increases.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1D692-5757-4050-B333-EE039725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5E7E9-6752-4519-8457-0D808205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>
            <a:defPPr>
              <a:defRPr sz="18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Normal demand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1E241-7163-4B64-88AA-387647C6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333625"/>
            <a:ext cx="1047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966FB-FC12-4C76-84A9-33F5F5E5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3717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NGINX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66F8B-68FD-4D21-A181-82FDDEB9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14625"/>
            <a:ext cx="333375" cy="523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0">
            <a:solidFill>
              <a:srgbClr val="1576C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460A4-C720-4F12-83EB-64832B70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81375"/>
            <a:ext cx="176212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CC863-C003-4409-92BC-FD5CB260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19475"/>
            <a:ext cx="1762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 API ×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0CF8B8-B8B3-4688-847E-4342BF86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>
            <a:defPPr>
              <a:defRPr sz="18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Peak demand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2A98B-0507-4FA4-81D9-C453472B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33625"/>
            <a:ext cx="1047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228D1-8F99-472D-A500-8B96F33A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717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NGINX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C210C-2EE7-4D90-BC57-0937BDA0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14625"/>
            <a:ext cx="333375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0">
            <a:solidFill>
              <a:srgbClr val="1576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2709AA-3864-4811-B38D-77D9AD0E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90875"/>
            <a:ext cx="7143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0">
            <a:solidFill>
              <a:srgbClr val="1576C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D9A69F-9B37-4CB4-84C2-EBA249C8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90875"/>
            <a:ext cx="3333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0">
            <a:solidFill>
              <a:srgbClr val="1576C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FF61F1-1690-4637-AFFB-88A6CED8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90875"/>
            <a:ext cx="7143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0">
            <a:solidFill>
              <a:srgbClr val="1576C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2522D9-5BBD-4BB8-A636-C489C4EB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67125"/>
            <a:ext cx="952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6B8221-92D2-4ACE-9862-C09E2978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70522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0974D9-70BB-4EB3-A2B1-DEE133D8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67125"/>
            <a:ext cx="952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54ECB3-6A28-46AA-AFFE-573B7CBF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0522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4599A8-DCBD-4086-BE5C-11A7900D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67125"/>
            <a:ext cx="952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C4FD7B-3092-45E3-8A08-7F07D843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70522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8EC74B-3BD8-4399-BEE4-3C04505E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971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EAF4F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BD7199-BF24-4155-A6B4-3D3D2E39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095875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2121"/>
          </a:bodyPr>
          <a:lstStyle xmlns:a="http://schemas.openxmlformats.org/drawingml/2006/main">
            <a:defPPr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Demo command:  docker compose up -d --scale public-api=3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3375C9-4F72-4344-9355-7B0B8356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531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>
            <a:def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The load-test script reports request latency and shows which public replicas handled requests.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8AE244-C58E-45BC-89D7-B98C5B0D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828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Hybrid Cloud Architecture Design for a Scalable College Application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00AAA9-AFD5-4AA2-8438-8F2FDD38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8896122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84460-D333-494F-8CC1-FC7FB139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Demonstration and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4B247-EDA5-4246-A814-7074AD21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The working prototype supports a clear project-evaluation sequence.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AE2F8-3C06-409E-8151-6DD18D4A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4463B-758E-46A1-A925-072ECB54FBEC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4476750"/>
                <a:gridCol w="4000500"/>
              </a:tblGrid>
              <a:tr h="5556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Demo step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evaluator sees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Concept demonstrated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Student login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JWT returned for the demo student account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Authenticated public access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Public service request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Materials and course list requested through Nginx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Load-balanced public workload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Private record request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Academic and finance APIs called through the gateway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Protected private workload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Admin dashboard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Admin observes request counts, status and configured replicas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Centralized monitoring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Load 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Concurrent requests run before and after scaling replicas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8324A"/>
                          </a:solidFill>
                          <a:latin typeface="Arial"/>
                          <a:ea typeface="Arial"/>
                          <a:cs typeface="Arial"/>
                        </a:rPr>
                        <a:t>Cloud-bursting simulation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F5179-0B95-4619-9408-40888D79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>
            <a:defPPr>
              <a:defRPr sz="1500" b="1">
                <a:solidFill>
                  <a:srgbClr val="1785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856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8565"/>
                </a:solidFill>
                <a:latin typeface="Arial"/>
                <a:ea typeface="Arial"/>
                <a:cs typeface="Arial"/>
              </a:rPr>
              <a:t>Live endpoint: http://localhost:8080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BB1F0-1BB6-4A04-9DD9-8AD7896E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>
            <a:def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Student: student@college.edu / Student@123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1036E-73A9-47C2-9B31-2DD80835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828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Hybrid Cloud Architecture Design for a Scalable College 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8E8C5-53DF-4C86-A06D-CF39792B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8419327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D8B953-7B0B-49A0-893C-6BA1E8E0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Outcome and future enhancement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DC7FA-1DD8-45B4-BFD9-7CE607EC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The prototype demonstrates the hybrid-cloud design as a working college application.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D42CE-CA4E-4E6A-8A6D-CC40E898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939AC-CD7B-409F-8629-411CF469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395"/>
          </a:bodyPr>
          <a:lstStyle xmlns:a="http://schemas.openxmlformats.org/drawingml/2006/main">
            <a:defPPr>
              <a:defRPr sz="20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Project outcome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99F5A-289A-41D9-A9A1-D6B3D796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C22CE-4179-441C-BF37-01484EE8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97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Student-facing modules operate in the scalable public cloud layer.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45E11-47BA-43B0-A56C-6E728E2A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4BC3"/>
          </a:solidFill>
          <a:ln xmlns:a="http://schemas.openxmlformats.org/drawingml/2006/main" w="9525">
            <a:solidFill>
              <a:srgbClr val="6A4BC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568D0-7955-4DBB-8D26-711E0DBC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86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Academic and financial data remain in the private cloud layer.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F149A-A8C4-4C45-9E9A-9479B578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A6A6"/>
          </a:solidFill>
          <a:ln xmlns:a="http://schemas.openxmlformats.org/drawingml/2006/main" w="9525">
            <a:solidFill>
              <a:srgbClr val="08A6A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BF80E6-A536-4334-8C81-CD9599A8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069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Nginx, JWT, internal service tokens and network separation provide a clear security story.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882D7-A413-456A-8DA2-DF16C1EE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148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565"/>
          </a:solidFill>
          <a:ln xmlns:a="http://schemas.openxmlformats.org/drawingml/2006/main" w="9525">
            <a:solidFill>
              <a:srgbClr val="17856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B6DC1-0344-4179-B559-14B05D09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597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Docker replicas and load testing demonstrate the scaling approach.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299C18-B04E-4E99-ABCA-14A58F67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0957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EAF4F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079380-0D4E-4559-9343-E5C531E5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86000"/>
            <a:ext cx="1714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576C8"/>
          </a:solidFill>
          <a:ln xmlns:a="http://schemas.openxmlformats.org/drawingml/2006/main" w="9525">
            <a:solidFill>
              <a:srgbClr val="1576C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36A14A-C2C8-4E04-9B85-4886C479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241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333"/>
          </a:bodyPr>
          <a:lstStyle xmlns:a="http://schemas.openxmlformats.org/drawingml/2006/main">
            <a:def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FUTURE ENHANCEMENTS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769474-CB5C-42E3-9278-452033A2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57500"/>
            <a:ext cx="323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550"/>
          </a:bodyPr>
          <a:lstStyle xmlns:a="http://schemas.openxmlformats.org/drawingml/2006/main">
            <a:def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Deploy public services to a managed cloud platform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Use mTLS, managed secrets and audit logging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24A"/>
                </a:solidFill>
                <a:latin typeface="Arial"/>
                <a:ea typeface="Arial"/>
                <a:cs typeface="Arial"/>
              </a:rPr>
              <a:t>Add metric-driven autoscaling and alerting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D182C5-76A7-4CD9-9C8C-706BF451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190"/>
          </a:bodyPr>
          <a:lstStyle xmlns:a="http://schemas.openxmlformats.org/drawingml/2006/main">
            <a:defPPr>
              <a:defRPr sz="26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B4B8F3-8905-4D43-B18B-66C2B673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296"/>
          </a:bodyPr>
          <a:lstStyle xmlns:a="http://schemas.openxmlformats.org/drawingml/2006/main">
            <a:defPPr>
              <a:defRPr sz="135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Questions and discussion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3EC627-56FF-4BD6-84D5-3B4BB63E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828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Hybrid Cloud Architecture Design for a Scalable College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C9B23A-04D1-46AE-9187-00A97D23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708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B708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330472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2026-10-05T04:21:34.9600000Z</dcterms:created>
  <dcterms:modified xsi:type="dcterms:W3CDTF">2026-10-05T04:21:34.9600000Z</dcterms:modified>
</coreProperties>
</file>